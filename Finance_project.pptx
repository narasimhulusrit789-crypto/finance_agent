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1"/>
  </p:notesMasterIdLst>
  <p:sldIdLst>
    <p:sldId id="283" r:id="rId2"/>
    <p:sldId id="257" r:id="rId3"/>
    <p:sldId id="294" r:id="rId4"/>
    <p:sldId id="285" r:id="rId5"/>
    <p:sldId id="278" r:id="rId6"/>
    <p:sldId id="281" r:id="rId7"/>
    <p:sldId id="279" r:id="rId8"/>
    <p:sldId id="262" r:id="rId9"/>
    <p:sldId id="264" r:id="rId10"/>
    <p:sldId id="277" r:id="rId11"/>
    <p:sldId id="290" r:id="rId12"/>
    <p:sldId id="292" r:id="rId13"/>
    <p:sldId id="293" r:id="rId14"/>
    <p:sldId id="286" r:id="rId15"/>
    <p:sldId id="287" r:id="rId16"/>
    <p:sldId id="280" r:id="rId17"/>
    <p:sldId id="288" r:id="rId18"/>
    <p:sldId id="289" r:id="rId19"/>
    <p:sldId id="276" r:id="rId2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0" d="100"/>
          <a:sy n="70" d="100"/>
        </p:scale>
        <p:origin x="71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IBM Bob”</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708466825"/>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IN" dirty="0"/>
                        <a:t>M. </a:t>
                      </a:r>
                      <a:r>
                        <a:rPr lang="en-IN" dirty="0" err="1"/>
                        <a:t>Narasimhulu</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narasimhulu.srit789@gmail.com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8919365263</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a:t>Domain of  Project – </a:t>
            </a:r>
            <a:r>
              <a:rPr lang="en-US" sz="2400" b="1">
                <a:highlight>
                  <a:srgbClr val="FFFF00"/>
                </a:highlight>
              </a:rPr>
              <a:t>[ like Agriculture / Education / Healthcare / … ]</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a:t>Project Tile – </a:t>
            </a:r>
            <a:r>
              <a:rPr lang="en-US" sz="2400" b="1">
                <a:highlight>
                  <a:srgbClr val="FFFF00"/>
                </a:highlight>
              </a:rPr>
              <a:t>[</a:t>
            </a:r>
            <a:r>
              <a:rPr lang="en-US" sz="2400" b="1">
                <a:solidFill>
                  <a:srgbClr val="002060"/>
                </a:solidFill>
                <a:highlight>
                  <a:srgbClr val="FFFF00"/>
                </a:highlight>
                <a:latin typeface="Times New Roman"/>
                <a:ea typeface="Times New Roman"/>
                <a:cs typeface="Times New Roman"/>
                <a:sym typeface="Times New Roman"/>
              </a:rPr>
              <a:t>Write your project title here</a:t>
            </a:r>
            <a:r>
              <a:rPr lang="en-US" sz="2400" b="1">
                <a:highlight>
                  <a:srgbClr val="FFFF00"/>
                </a:highlight>
              </a:rPr>
              <a:t>]</a:t>
            </a:r>
            <a:endParaRPr lang="en-IN" sz="2400" b="1">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solidFill>
                  <a:srgbClr val="FF0000"/>
                </a:solidFill>
              </a:rPr>
              <a:t>Recommended font style and size:</a:t>
            </a:r>
            <a:br>
              <a:rPr lang="en-US" sz="2000">
                <a:solidFill>
                  <a:srgbClr val="FF0000"/>
                </a:solidFill>
              </a:rPr>
            </a:br>
            <a:br>
              <a:rPr lang="en-US" sz="2000"/>
            </a:br>
            <a:r>
              <a:rPr lang="en-US" sz="2000">
                <a:solidFill>
                  <a:srgbClr val="FF0000"/>
                </a:solidFill>
              </a:rPr>
              <a:t>Font Style: Arial</a:t>
            </a:r>
            <a:br>
              <a:rPr lang="en-US" sz="2000">
                <a:solidFill>
                  <a:srgbClr val="FF0000"/>
                </a:solidFill>
              </a:rPr>
            </a:br>
            <a:r>
              <a:rPr lang="en-US" sz="2000">
                <a:solidFill>
                  <a:srgbClr val="FF0000"/>
                </a:solidFill>
              </a:rPr>
              <a:t>Font Size (Heading): 28</a:t>
            </a:r>
          </a:p>
          <a:p>
            <a:r>
              <a:rPr lang="en-US" sz="2000">
                <a:solidFill>
                  <a:srgbClr val="FF0000"/>
                </a:solidFill>
              </a:rPr>
              <a:t>Font Size (Content): 20</a:t>
            </a:r>
          </a:p>
        </p:txBody>
      </p:sp>
      <p:pic>
        <p:nvPicPr>
          <p:cNvPr id="5" name="Picture 4">
            <a:extLst>
              <a:ext uri="{FF2B5EF4-FFF2-40B4-BE49-F238E27FC236}">
                <a16:creationId xmlns:a16="http://schemas.microsoft.com/office/drawing/2014/main" id="{92754380-5FE6-44E8-8AD4-6033F0FE0099}"/>
              </a:ext>
            </a:extLst>
          </p:cNvPr>
          <p:cNvPicPr>
            <a:picLocks noChangeAspect="1"/>
          </p:cNvPicPr>
          <p:nvPr/>
        </p:nvPicPr>
        <p:blipFill>
          <a:blip r:embed="rId3"/>
          <a:stretch>
            <a:fillRect/>
          </a:stretch>
        </p:blipFill>
        <p:spPr>
          <a:xfrm>
            <a:off x="3836335" y="3583002"/>
            <a:ext cx="1206082" cy="1080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244549" y="1234440"/>
            <a:ext cx="11015330" cy="4278094"/>
          </a:xfrm>
          <a:prstGeom prst="rect">
            <a:avLst/>
          </a:prstGeom>
          <a:noFill/>
        </p:spPr>
        <p:txBody>
          <a:bodyPr wrap="square" rtlCol="0">
            <a:spAutoFit/>
          </a:bodyPr>
          <a:lstStyle/>
          <a:p>
            <a:pPr marL="0" marR="0" lvl="0" indent="0" algn="l" defTabSz="914400" rtl="0" eaLnBrk="1" fontAlgn="base" latinLnBrk="0" hangingPunct="1">
              <a:lnSpc>
                <a:spcPct val="100000"/>
              </a:lnSpc>
              <a:spcBef>
                <a:spcPts val="0"/>
              </a:spcBef>
              <a:spcAft>
                <a:spcPts val="0"/>
              </a:spcAft>
              <a:buClr>
                <a:srgbClr val="000000"/>
              </a:buClr>
              <a:buSzTx/>
              <a:buFont typeface="Arial"/>
              <a:buNone/>
              <a:tabLst/>
              <a:defRPr/>
            </a:pPr>
            <a:r>
              <a:rPr kumimoji="0" lang="en-US" sz="1600" b="1" i="0" u="none" strike="noStrike" kern="0" cap="none" spc="0" normalizeH="0" baseline="0" noProof="0" dirty="0">
                <a:ln>
                  <a:noFill/>
                </a:ln>
                <a:solidFill>
                  <a:srgbClr val="000000"/>
                </a:solidFill>
                <a:effectLst/>
                <a:uLnTx/>
                <a:uFillTx/>
                <a:latin typeface="Arial"/>
                <a:cs typeface="Arial"/>
                <a:sym typeface="Arial"/>
              </a:rPr>
              <a:t>Problem Statement : Investment Recommendation Agent</a:t>
            </a:r>
            <a:endParaRPr kumimoji="0" lang="en-US" sz="16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base" latinLnBrk="0" hangingPunct="1">
              <a:lnSpc>
                <a:spcPct val="100000"/>
              </a:lnSpc>
              <a:spcBef>
                <a:spcPts val="0"/>
              </a:spcBef>
              <a:spcAft>
                <a:spcPts val="0"/>
              </a:spcAft>
              <a:buClr>
                <a:srgbClr val="000000"/>
              </a:buClr>
              <a:buSzTx/>
              <a:buFont typeface="Arial"/>
              <a:buNone/>
              <a:tabLst/>
              <a:defRPr/>
            </a:pPr>
            <a:endParaRPr kumimoji="0" lang="en-US" sz="1600" b="1"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base" latinLnBrk="0" hangingPunct="1">
              <a:lnSpc>
                <a:spcPct val="100000"/>
              </a:lnSpc>
              <a:spcBef>
                <a:spcPts val="0"/>
              </a:spcBef>
              <a:spcAft>
                <a:spcPts val="0"/>
              </a:spcAft>
              <a:buClr>
                <a:srgbClr val="000000"/>
              </a:buClr>
              <a:buSzTx/>
              <a:buFont typeface="Arial"/>
              <a:buNone/>
              <a:tabLst/>
              <a:defRPr/>
            </a:pPr>
            <a:r>
              <a:rPr kumimoji="0" lang="en-US" sz="1600" b="1" i="0" u="none" strike="noStrike" kern="0" cap="none" spc="0" normalizeH="0" baseline="0" noProof="0" dirty="0">
                <a:ln>
                  <a:noFill/>
                </a:ln>
                <a:solidFill>
                  <a:srgbClr val="000000"/>
                </a:solidFill>
                <a:effectLst/>
                <a:uLnTx/>
                <a:uFillTx/>
                <a:latin typeface="Arial"/>
                <a:cs typeface="Arial"/>
                <a:sym typeface="Arial"/>
              </a:rPr>
              <a:t>The Challenge</a:t>
            </a:r>
            <a:r>
              <a:rPr kumimoji="0" lang="en-US" sz="1600" b="0" i="0" u="none" strike="noStrike" kern="0" cap="none" spc="0" normalizeH="0" baseline="0" noProof="0" dirty="0">
                <a:ln>
                  <a:noFill/>
                </a:ln>
                <a:solidFill>
                  <a:srgbClr val="000000"/>
                </a:solidFill>
                <a:effectLst/>
                <a:uLnTx/>
                <a:uFillTx/>
                <a:latin typeface="Arial"/>
                <a:cs typeface="Arial"/>
                <a:sym typeface="Arial"/>
              </a:rPr>
              <a:t> </a:t>
            </a:r>
          </a:p>
          <a:p>
            <a:pPr marL="0" marR="0" lvl="0" indent="0" algn="l" defTabSz="914400" rtl="0" eaLnBrk="1" fontAlgn="base"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0000"/>
                </a:solidFill>
                <a:effectLst/>
                <a:uLnTx/>
                <a:uFillTx/>
                <a:latin typeface="Arial"/>
                <a:cs typeface="Arial"/>
                <a:sym typeface="Arial"/>
              </a:rPr>
              <a:t>Investors often struggle to analyze market trends, assess risks, and choose suitable investments due to scattered financial information and lack of personalized guidance. This can lead to poor investment decisions and financial losses.. </a:t>
            </a:r>
          </a:p>
          <a:p>
            <a:pPr marL="0" marR="0" lvl="0" indent="0" algn="l" defTabSz="914400" rtl="0" eaLnBrk="1" fontAlgn="base" latinLnBrk="0" hangingPunct="1">
              <a:lnSpc>
                <a:spcPct val="100000"/>
              </a:lnSpc>
              <a:spcBef>
                <a:spcPts val="0"/>
              </a:spcBef>
              <a:spcAft>
                <a:spcPts val="0"/>
              </a:spcAft>
              <a:buClr>
                <a:srgbClr val="000000"/>
              </a:buClr>
              <a:buSzTx/>
              <a:buFont typeface="Arial"/>
              <a:buNone/>
              <a:tabLst/>
              <a:defRPr/>
            </a:pPr>
            <a:endParaRPr kumimoji="0" lang="en-US" sz="1600" b="0" i="0" u="none" strike="noStrike" kern="0" cap="none" spc="0" normalizeH="0" baseline="0" noProof="0" dirty="0">
              <a:ln>
                <a:noFill/>
              </a:ln>
              <a:solidFill>
                <a:srgbClr val="000000"/>
              </a:solidFill>
              <a:effectLst/>
              <a:uLnTx/>
              <a:uFillTx/>
              <a:latin typeface="Arial"/>
              <a:cs typeface="Arial"/>
              <a:sym typeface="Arial"/>
            </a:endParaRPr>
          </a:p>
          <a:p>
            <a:pPr marL="0" marR="0" lvl="0" indent="0" algn="l" defTabSz="914400" rtl="0" eaLnBrk="1" fontAlgn="base" latinLnBrk="0" hangingPunct="1">
              <a:lnSpc>
                <a:spcPct val="100000"/>
              </a:lnSpc>
              <a:spcBef>
                <a:spcPts val="0"/>
              </a:spcBef>
              <a:spcAft>
                <a:spcPts val="0"/>
              </a:spcAft>
              <a:buClr>
                <a:srgbClr val="000000"/>
              </a:buClr>
              <a:buSzTx/>
              <a:buFont typeface="Arial"/>
              <a:buNone/>
              <a:tabLst/>
              <a:defRPr/>
            </a:pPr>
            <a:r>
              <a:rPr kumimoji="0" lang="en-US" sz="1600" b="1" i="0" u="none" strike="noStrike" kern="0" cap="none" spc="0" normalizeH="0" baseline="0" noProof="0" dirty="0">
                <a:ln>
                  <a:noFill/>
                </a:ln>
                <a:solidFill>
                  <a:srgbClr val="000000"/>
                </a:solidFill>
                <a:effectLst/>
                <a:uLnTx/>
                <a:uFillTx/>
                <a:latin typeface="Arial"/>
                <a:cs typeface="Arial"/>
                <a:sym typeface="Arial"/>
              </a:rPr>
              <a:t>The Objective</a:t>
            </a:r>
            <a:r>
              <a:rPr kumimoji="0" lang="en-US" sz="1600" b="0" i="0" u="none" strike="noStrike" kern="0" cap="none" spc="0" normalizeH="0" baseline="0" noProof="0" dirty="0">
                <a:ln>
                  <a:noFill/>
                </a:ln>
                <a:solidFill>
                  <a:srgbClr val="000000"/>
                </a:solidFill>
                <a:effectLst/>
                <a:uLnTx/>
                <a:uFillTx/>
                <a:latin typeface="Arial"/>
                <a:cs typeface="Arial"/>
                <a:sym typeface="Arial"/>
              </a:rPr>
              <a:t> </a:t>
            </a:r>
          </a:p>
          <a:p>
            <a:pPr marL="0" marR="0" lvl="0" indent="0" algn="l" defTabSz="914400" rtl="0" eaLnBrk="1" fontAlgn="base" latinLnBrk="0" hangingPunct="1">
              <a:lnSpc>
                <a:spcPct val="100000"/>
              </a:lnSpc>
              <a:spcBef>
                <a:spcPts val="0"/>
              </a:spcBef>
              <a:spcAft>
                <a:spcPts val="0"/>
              </a:spcAft>
              <a:buClr>
                <a:srgbClr val="000000"/>
              </a:buClr>
              <a:buSzTx/>
              <a:buFont typeface="Arial"/>
              <a:buNone/>
              <a:tabLst/>
              <a:defRPr/>
            </a:pPr>
            <a:r>
              <a:rPr kumimoji="0" lang="en-US" sz="1600" b="0" i="0" u="none" strike="noStrike" kern="0" cap="none" spc="0" normalizeH="0" baseline="0" noProof="0" dirty="0">
                <a:ln>
                  <a:noFill/>
                </a:ln>
                <a:solidFill>
                  <a:srgbClr val="000000"/>
                </a:solidFill>
                <a:effectLst/>
                <a:uLnTx/>
                <a:uFillTx/>
                <a:latin typeface="Arial"/>
                <a:cs typeface="Arial"/>
                <a:sym typeface="Arial"/>
              </a:rPr>
              <a:t>Build an AI-powered Investment Recommendation Agent that provides personalized investment advice based on user goals and risk tolerance. The solution should:</a:t>
            </a:r>
          </a:p>
          <a:p>
            <a:pPr marL="0" marR="0" lvl="0" indent="0" algn="l" defTabSz="914400" rtl="0" eaLnBrk="1" fontAlgn="base" latinLnBrk="0" hangingPunct="1">
              <a:lnSpc>
                <a:spcPct val="100000"/>
              </a:lnSpc>
              <a:spcBef>
                <a:spcPts val="0"/>
              </a:spcBef>
              <a:spcAft>
                <a:spcPts val="0"/>
              </a:spcAft>
              <a:buClr>
                <a:srgbClr val="000000"/>
              </a:buClr>
              <a:buSzTx/>
              <a:buFont typeface="Arial"/>
              <a:buNone/>
              <a:tabLst/>
              <a:defRPr/>
            </a:pPr>
            <a:r>
              <a:rPr kumimoji="0" lang="en-US" sz="1600" b="1" i="0" u="none" strike="noStrike" kern="0" cap="none" spc="0" normalizeH="0" baseline="0" noProof="0" dirty="0">
                <a:ln>
                  <a:noFill/>
                </a:ln>
                <a:solidFill>
                  <a:srgbClr val="000000"/>
                </a:solidFill>
                <a:effectLst/>
                <a:uLnTx/>
                <a:uFillTx/>
                <a:latin typeface="Arial"/>
                <a:cs typeface="Arial"/>
                <a:sym typeface="Arial"/>
              </a:rPr>
              <a:t>Personalized Recommendations </a:t>
            </a:r>
            <a:r>
              <a:rPr kumimoji="0" lang="en-US" sz="1600" b="0" i="0" u="none" strike="noStrike" kern="0" cap="none" spc="0" normalizeH="0" baseline="0" noProof="0" dirty="0">
                <a:ln>
                  <a:noFill/>
                </a:ln>
                <a:solidFill>
                  <a:srgbClr val="000000"/>
                </a:solidFill>
                <a:effectLst/>
                <a:uLnTx/>
                <a:uFillTx/>
                <a:latin typeface="Arial"/>
                <a:cs typeface="Arial"/>
                <a:sym typeface="Arial"/>
              </a:rPr>
              <a:t>– Suggest stocks, mutual funds, ETFs, and other investments.</a:t>
            </a:r>
          </a:p>
          <a:p>
            <a:pPr marL="0" marR="0" lvl="0" indent="0" algn="l" defTabSz="914400" rtl="0" eaLnBrk="1" fontAlgn="base" latinLnBrk="0" hangingPunct="1">
              <a:lnSpc>
                <a:spcPct val="100000"/>
              </a:lnSpc>
              <a:spcBef>
                <a:spcPts val="0"/>
              </a:spcBef>
              <a:spcAft>
                <a:spcPts val="0"/>
              </a:spcAft>
              <a:buClr>
                <a:srgbClr val="000000"/>
              </a:buClr>
              <a:buSzTx/>
              <a:buFont typeface="Arial"/>
              <a:buNone/>
              <a:tabLst/>
              <a:defRPr/>
            </a:pPr>
            <a:r>
              <a:rPr kumimoji="0" lang="en-US" sz="1600" b="1" i="0" u="none" strike="noStrike" kern="0" cap="none" spc="0" normalizeH="0" baseline="0" noProof="0" dirty="0">
                <a:ln>
                  <a:noFill/>
                </a:ln>
                <a:solidFill>
                  <a:srgbClr val="000000"/>
                </a:solidFill>
                <a:effectLst/>
                <a:uLnTx/>
                <a:uFillTx/>
                <a:latin typeface="Arial"/>
                <a:cs typeface="Arial"/>
                <a:sym typeface="Arial"/>
              </a:rPr>
              <a:t>Financial Data Retrieval </a:t>
            </a:r>
            <a:r>
              <a:rPr kumimoji="0" lang="en-US" sz="1600" b="0" i="0" u="none" strike="noStrike" kern="0" cap="none" spc="0" normalizeH="0" baseline="0" noProof="0" dirty="0">
                <a:ln>
                  <a:noFill/>
                </a:ln>
                <a:solidFill>
                  <a:srgbClr val="000000"/>
                </a:solidFill>
                <a:effectLst/>
                <a:uLnTx/>
                <a:uFillTx/>
                <a:latin typeface="Arial"/>
                <a:cs typeface="Arial"/>
                <a:sym typeface="Arial"/>
              </a:rPr>
              <a:t>– Fetch and summarize market and company information.</a:t>
            </a:r>
          </a:p>
          <a:p>
            <a:pPr marL="0" marR="0" lvl="0" indent="0" algn="l" defTabSz="914400" rtl="0" eaLnBrk="1" fontAlgn="base" latinLnBrk="0" hangingPunct="1">
              <a:lnSpc>
                <a:spcPct val="100000"/>
              </a:lnSpc>
              <a:spcBef>
                <a:spcPts val="0"/>
              </a:spcBef>
              <a:spcAft>
                <a:spcPts val="0"/>
              </a:spcAft>
              <a:buClr>
                <a:srgbClr val="000000"/>
              </a:buClr>
              <a:buSzTx/>
              <a:buFont typeface="Arial"/>
              <a:buNone/>
              <a:tabLst/>
              <a:defRPr/>
            </a:pPr>
            <a:r>
              <a:rPr kumimoji="0" lang="en-US" sz="1600" b="1" i="0" u="none" strike="noStrike" kern="0" cap="none" spc="0" normalizeH="0" baseline="0" noProof="0" dirty="0">
                <a:ln>
                  <a:noFill/>
                </a:ln>
                <a:solidFill>
                  <a:srgbClr val="000000"/>
                </a:solidFill>
                <a:effectLst/>
                <a:uLnTx/>
                <a:uFillTx/>
                <a:latin typeface="Arial"/>
                <a:cs typeface="Arial"/>
                <a:sym typeface="Arial"/>
              </a:rPr>
              <a:t>Portfolio Analysis </a:t>
            </a:r>
            <a:r>
              <a:rPr kumimoji="0" lang="en-US" sz="1600" b="0" i="0" u="none" strike="noStrike" kern="0" cap="none" spc="0" normalizeH="0" baseline="0" noProof="0" dirty="0">
                <a:ln>
                  <a:noFill/>
                </a:ln>
                <a:solidFill>
                  <a:srgbClr val="000000"/>
                </a:solidFill>
                <a:effectLst/>
                <a:uLnTx/>
                <a:uFillTx/>
                <a:latin typeface="Arial"/>
                <a:cs typeface="Arial"/>
                <a:sym typeface="Arial"/>
              </a:rPr>
              <a:t>– Evaluate and optimize investment portfolios.</a:t>
            </a:r>
          </a:p>
          <a:p>
            <a:pPr marL="0" marR="0" lvl="0" indent="0" algn="l" defTabSz="914400" rtl="0" eaLnBrk="1" fontAlgn="base" latinLnBrk="0" hangingPunct="1">
              <a:lnSpc>
                <a:spcPct val="100000"/>
              </a:lnSpc>
              <a:spcBef>
                <a:spcPts val="0"/>
              </a:spcBef>
              <a:spcAft>
                <a:spcPts val="0"/>
              </a:spcAft>
              <a:buClr>
                <a:srgbClr val="000000"/>
              </a:buClr>
              <a:buSzTx/>
              <a:buFont typeface="Arial"/>
              <a:buNone/>
              <a:tabLst/>
              <a:defRPr/>
            </a:pPr>
            <a:r>
              <a:rPr kumimoji="0" lang="en-US" sz="1600" b="1" i="0" u="none" strike="noStrike" kern="0" cap="none" spc="0" normalizeH="0" baseline="0" noProof="0" dirty="0">
                <a:ln>
                  <a:noFill/>
                </a:ln>
                <a:solidFill>
                  <a:srgbClr val="000000"/>
                </a:solidFill>
                <a:effectLst/>
                <a:uLnTx/>
                <a:uFillTx/>
                <a:latin typeface="Arial"/>
                <a:cs typeface="Arial"/>
                <a:sym typeface="Arial"/>
              </a:rPr>
              <a:t>Risk Assessment </a:t>
            </a:r>
            <a:r>
              <a:rPr kumimoji="0" lang="en-US" sz="1600" b="0" i="0" u="none" strike="noStrike" kern="0" cap="none" spc="0" normalizeH="0" baseline="0" noProof="0" dirty="0">
                <a:ln>
                  <a:noFill/>
                </a:ln>
                <a:solidFill>
                  <a:srgbClr val="000000"/>
                </a:solidFill>
                <a:effectLst/>
                <a:uLnTx/>
                <a:uFillTx/>
                <a:latin typeface="Arial"/>
                <a:cs typeface="Arial"/>
                <a:sym typeface="Arial"/>
              </a:rPr>
              <a:t>– Analyze risks and market volatility.</a:t>
            </a:r>
          </a:p>
          <a:p>
            <a:pPr marL="0" marR="0" lvl="0" indent="0" algn="l" defTabSz="914400" rtl="0" eaLnBrk="1" fontAlgn="base" latinLnBrk="0" hangingPunct="1">
              <a:lnSpc>
                <a:spcPct val="100000"/>
              </a:lnSpc>
              <a:spcBef>
                <a:spcPts val="0"/>
              </a:spcBef>
              <a:spcAft>
                <a:spcPts val="0"/>
              </a:spcAft>
              <a:buClr>
                <a:srgbClr val="000000"/>
              </a:buClr>
              <a:buSzTx/>
              <a:buFont typeface="Arial"/>
              <a:buNone/>
              <a:tabLst/>
              <a:defRPr/>
            </a:pPr>
            <a:r>
              <a:rPr kumimoji="0" lang="en-US" sz="1600" b="1" i="0" u="none" strike="noStrike" kern="0" cap="none" spc="0" normalizeH="0" baseline="0" noProof="0" dirty="0">
                <a:ln>
                  <a:noFill/>
                </a:ln>
                <a:solidFill>
                  <a:srgbClr val="000000"/>
                </a:solidFill>
                <a:effectLst/>
                <a:uLnTx/>
                <a:uFillTx/>
                <a:latin typeface="Arial"/>
                <a:cs typeface="Arial"/>
                <a:sym typeface="Arial"/>
              </a:rPr>
              <a:t>Multi-Agent System </a:t>
            </a:r>
            <a:r>
              <a:rPr kumimoji="0" lang="en-US" sz="1600" b="0" i="0" u="none" strike="noStrike" kern="0" cap="none" spc="0" normalizeH="0" baseline="0" noProof="0" dirty="0">
                <a:ln>
                  <a:noFill/>
                </a:ln>
                <a:solidFill>
                  <a:srgbClr val="000000"/>
                </a:solidFill>
                <a:effectLst/>
                <a:uLnTx/>
                <a:uFillTx/>
                <a:latin typeface="Arial"/>
                <a:cs typeface="Arial"/>
                <a:sym typeface="Arial"/>
              </a:rPr>
              <a:t>Investment Knowledge Agent, Portfolio Recommendation Agent, Risk Analysis Agent, Market Monitoring Agent</a:t>
            </a:r>
          </a:p>
          <a:p>
            <a:pPr marL="0" marR="0" lvl="0" indent="0" algn="l" defTabSz="914400" rtl="0" eaLnBrk="1" fontAlgn="base" latinLnBrk="0" hangingPunct="1">
              <a:lnSpc>
                <a:spcPct val="100000"/>
              </a:lnSpc>
              <a:spcBef>
                <a:spcPts val="0"/>
              </a:spcBef>
              <a:spcAft>
                <a:spcPts val="0"/>
              </a:spcAft>
              <a:buClr>
                <a:srgbClr val="000000"/>
              </a:buClr>
              <a:buSzTx/>
              <a:buFont typeface="Arial"/>
              <a:buNone/>
              <a:tabLst/>
              <a:defRPr/>
            </a:pPr>
            <a:r>
              <a:rPr kumimoji="0" lang="en-US" sz="1600" b="1" i="0" u="none" strike="noStrike" kern="0" cap="none" spc="0" normalizeH="0" baseline="0" noProof="0" dirty="0" err="1">
                <a:ln>
                  <a:noFill/>
                </a:ln>
                <a:solidFill>
                  <a:srgbClr val="000000"/>
                </a:solidFill>
                <a:effectLst/>
                <a:uLnTx/>
                <a:uFillTx/>
                <a:latin typeface="Arial"/>
                <a:cs typeface="Arial"/>
                <a:sym typeface="Arial"/>
              </a:rPr>
              <a:t>AgentDashboard</a:t>
            </a:r>
            <a:r>
              <a:rPr kumimoji="0" lang="en-US" sz="1600" b="0" i="0" u="none" strike="noStrike" kern="0" cap="none" spc="0" normalizeH="0" baseline="0" noProof="0" dirty="0">
                <a:ln>
                  <a:noFill/>
                </a:ln>
                <a:solidFill>
                  <a:srgbClr val="000000"/>
                </a:solidFill>
                <a:effectLst/>
                <a:uLnTx/>
                <a:uFillTx/>
                <a:latin typeface="Arial"/>
                <a:cs typeface="Arial"/>
                <a:sym typeface="Arial"/>
              </a:rPr>
              <a:t> – Visualize portfolio performance, risk, and returns.</a:t>
            </a:r>
            <a:endParaRPr kumimoji="0" lang="en-IN" sz="1600" b="0" i="0" u="none" strike="noStrike" kern="0" cap="none" spc="0" normalizeH="0" baseline="0" noProof="0" dirty="0">
              <a:ln>
                <a:noFill/>
              </a:ln>
              <a:solidFill>
                <a:srgbClr val="000000"/>
              </a:solidFill>
              <a:effectLst/>
              <a:uLnTx/>
              <a:uFillTx/>
              <a:latin typeface="Arial"/>
              <a:cs typeface="Arial"/>
              <a:sym typeface="Arial"/>
            </a:endParaRP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2400" b="1" i="0" u="none" strike="noStrike" kern="0" cap="none" spc="0" normalizeH="0" baseline="0" noProof="0">
                <a:ln>
                  <a:noFill/>
                </a:ln>
                <a:solidFill>
                  <a:srgbClr val="000000"/>
                </a:solidFill>
                <a:effectLst/>
                <a:uLnTx/>
                <a:uFillTx/>
                <a:latin typeface="Arial"/>
                <a:cs typeface="Arial"/>
                <a:sym typeface="Arial"/>
              </a:rPr>
              <a:t>Problem Statement -</a:t>
            </a:r>
            <a:endParaRPr kumimoji="0" lang="en-IN" sz="2400" b="1" i="0" u="none" strike="noStrike" kern="0" cap="none" spc="0" normalizeH="0" baseline="0" noProof="0">
              <a:ln>
                <a:noFill/>
              </a:ln>
              <a:solidFill>
                <a:srgbClr val="000000"/>
              </a:solidFill>
              <a:effectLst/>
              <a:uLnTx/>
              <a:uFillTx/>
              <a:latin typeface="Arial"/>
              <a:cs typeface="Arial"/>
              <a:sym typeface="Arial"/>
            </a:endParaRPr>
          </a:p>
        </p:txBody>
      </p:sp>
    </p:spTree>
    <p:extLst>
      <p:ext uri="{BB962C8B-B14F-4D97-AF65-F5344CB8AC3E}">
        <p14:creationId xmlns:p14="http://schemas.microsoft.com/office/powerpoint/2010/main" val="24129110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161925" y="1234440"/>
            <a:ext cx="11501991" cy="2893100"/>
          </a:xfrm>
          <a:prstGeom prst="rect">
            <a:avLst/>
          </a:prstGeom>
          <a:noFill/>
        </p:spPr>
        <p:txBody>
          <a:bodyPr wrap="square" rtlCol="0">
            <a:spAutoFit/>
          </a:bodyPr>
          <a:lstStyle/>
          <a:p>
            <a:r>
              <a:rPr lang="en-US" b="1" dirty="0"/>
              <a:t>Proposed Solution: AI-Powered Investment Recommendation Agent</a:t>
            </a:r>
          </a:p>
          <a:p>
            <a:r>
              <a:rPr lang="en-US" dirty="0"/>
              <a:t>The proposed solution is a </a:t>
            </a:r>
            <a:r>
              <a:rPr lang="en-US" b="1" dirty="0"/>
              <a:t>multi-agent AI-powered Investment Recommendation Agent</a:t>
            </a:r>
            <a:r>
              <a:rPr lang="en-US" dirty="0"/>
              <a:t> built using </a:t>
            </a:r>
            <a:r>
              <a:rPr lang="en-US" b="1" dirty="0"/>
              <a:t>IBM BOB, IBM watsonx.ai, IBM Granite Models, and IBM Cloud</a:t>
            </a:r>
            <a:r>
              <a:rPr lang="en-US" dirty="0"/>
              <a:t> to deliver personalized, real-time investment guidance.</a:t>
            </a:r>
          </a:p>
          <a:p>
            <a:r>
              <a:rPr lang="en-US" dirty="0"/>
              <a:t>The system uses </a:t>
            </a:r>
            <a:r>
              <a:rPr lang="en-US" b="1" dirty="0"/>
              <a:t>Retrieval-Augmented Generation (RAG)</a:t>
            </a:r>
            <a:r>
              <a:rPr lang="en-US" dirty="0"/>
              <a:t> with a </a:t>
            </a:r>
            <a:r>
              <a:rPr lang="en-US" b="1" dirty="0"/>
              <a:t>Vector Index</a:t>
            </a:r>
            <a:r>
              <a:rPr lang="en-US" dirty="0"/>
              <a:t> to retrieve trusted financial data and generate accurate investment recommendations.</a:t>
            </a:r>
          </a:p>
          <a:p>
            <a:r>
              <a:rPr lang="en-US" b="1" dirty="0"/>
              <a:t>Key Agents:</a:t>
            </a:r>
            <a:endParaRPr lang="en-US" dirty="0"/>
          </a:p>
          <a:p>
            <a:pPr>
              <a:buFont typeface="Arial" panose="020B0604020202020204" pitchFamily="34" charset="0"/>
              <a:buChar char="•"/>
            </a:pPr>
            <a:r>
              <a:rPr lang="en-US" b="1" dirty="0"/>
              <a:t>Investment Knowledge Agent</a:t>
            </a:r>
            <a:r>
              <a:rPr lang="en-US" dirty="0"/>
              <a:t> – Retrieves financial and market information.</a:t>
            </a:r>
          </a:p>
          <a:p>
            <a:pPr>
              <a:buFont typeface="Arial" panose="020B0604020202020204" pitchFamily="34" charset="0"/>
              <a:buChar char="•"/>
            </a:pPr>
            <a:r>
              <a:rPr lang="en-US" b="1" dirty="0"/>
              <a:t>Portfolio Recommendation Agent</a:t>
            </a:r>
            <a:r>
              <a:rPr lang="en-US" dirty="0"/>
              <a:t> – Suggests personalized investment portfolios.</a:t>
            </a:r>
          </a:p>
          <a:p>
            <a:pPr>
              <a:buFont typeface="Arial" panose="020B0604020202020204" pitchFamily="34" charset="0"/>
              <a:buChar char="•"/>
            </a:pPr>
            <a:r>
              <a:rPr lang="en-US" b="1" dirty="0"/>
              <a:t>Risk Analysis Agent</a:t>
            </a:r>
            <a:r>
              <a:rPr lang="en-US" dirty="0"/>
              <a:t> – Evaluates investment risks and diversification.</a:t>
            </a:r>
          </a:p>
          <a:p>
            <a:pPr>
              <a:buFont typeface="Arial" panose="020B0604020202020204" pitchFamily="34" charset="0"/>
              <a:buChar char="•"/>
            </a:pPr>
            <a:r>
              <a:rPr lang="en-US" b="1" dirty="0"/>
              <a:t>Market Monitoring Agent</a:t>
            </a:r>
            <a:r>
              <a:rPr lang="en-US" dirty="0"/>
              <a:t> – Tracks market trends and provides real-time alerts.</a:t>
            </a:r>
          </a:p>
          <a:p>
            <a:r>
              <a:rPr lang="en-US" dirty="0"/>
              <a:t>An </a:t>
            </a:r>
            <a:r>
              <a:rPr lang="en-US" b="1" dirty="0"/>
              <a:t>interactive dashboard</a:t>
            </a:r>
            <a:r>
              <a:rPr lang="en-US" dirty="0"/>
              <a:t> visualizes portfolio performance, asset allocation, expected returns, and risk metrics.</a:t>
            </a:r>
          </a:p>
          <a:p>
            <a:r>
              <a:rPr lang="en-US" dirty="0"/>
              <a:t>Overall, the solution acts as an intelligent financial advisor, helping users make informed investment decisions through personalized recommendations, risk analysis, and real-time market insights.</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dirty="0"/>
              <a:t>Proposed Solution -</a:t>
            </a:r>
            <a:endParaRPr lang="en-IN" sz="2400" b="1" dirty="0"/>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dirty="0"/>
              <a:t>Technology Used</a:t>
            </a:r>
            <a:endParaRPr lang="en-IN" sz="2400" b="1" dirty="0"/>
          </a:p>
        </p:txBody>
      </p:sp>
      <p:sp>
        <p:nvSpPr>
          <p:cNvPr id="9" name="Rectangle 5">
            <a:extLst>
              <a:ext uri="{FF2B5EF4-FFF2-40B4-BE49-F238E27FC236}">
                <a16:creationId xmlns:a16="http://schemas.microsoft.com/office/drawing/2014/main" id="{97AEACAC-357F-4ACD-94F7-7E2A364BC20F}"/>
              </a:ext>
            </a:extLst>
          </p:cNvPr>
          <p:cNvSpPr>
            <a:spLocks noChangeArrowheads="1"/>
          </p:cNvSpPr>
          <p:nvPr/>
        </p:nvSpPr>
        <p:spPr bwMode="auto">
          <a:xfrm rot="10800000" flipV="1">
            <a:off x="504966" y="1136995"/>
            <a:ext cx="11027895"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IBM BOB Platform</a:t>
            </a:r>
            <a:r>
              <a:rPr kumimoji="0" lang="en-US" altLang="en-US" sz="1800" b="0" i="0" u="none" strike="noStrike" cap="none" normalizeH="0" baseline="0" dirty="0">
                <a:ln>
                  <a:noFill/>
                </a:ln>
                <a:solidFill>
                  <a:schemeClr val="tx1"/>
                </a:solidFill>
                <a:effectLst/>
                <a:latin typeface="Arial" panose="020B0604020202020204" pitchFamily="34" charset="0"/>
              </a:rPr>
              <a:t> – Designs and orchestrates the multi-agent workflow.</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IBM Granite-4.0-8B-Instruct</a:t>
            </a:r>
            <a:r>
              <a:rPr kumimoji="0" lang="en-US" altLang="en-US" sz="1800" b="0" i="0" u="none" strike="noStrike" cap="none" normalizeH="0" baseline="0" dirty="0">
                <a:ln>
                  <a:noFill/>
                </a:ln>
                <a:solidFill>
                  <a:schemeClr val="tx1"/>
                </a:solidFill>
                <a:effectLst/>
                <a:latin typeface="Arial" panose="020B0604020202020204" pitchFamily="34" charset="0"/>
              </a:rPr>
              <a:t> – Performs financial reasoning, investment recommendations, and natural language understanding.</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IBM watsonx.ai</a:t>
            </a:r>
            <a:r>
              <a:rPr kumimoji="0" lang="en-US" altLang="en-US" sz="1800" b="0" i="0" u="none" strike="noStrike" cap="none" normalizeH="0" baseline="0" dirty="0">
                <a:ln>
                  <a:noFill/>
                </a:ln>
                <a:solidFill>
                  <a:schemeClr val="tx1"/>
                </a:solidFill>
                <a:effectLst/>
                <a:latin typeface="Arial" panose="020B0604020202020204" pitchFamily="34" charset="0"/>
              </a:rPr>
              <a:t> – Enables model deployment, RAG, embeddings, and AI governance.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IBM Cloud</a:t>
            </a:r>
            <a:r>
              <a:rPr kumimoji="0" lang="en-US" altLang="en-US" sz="1800" b="0" i="0" u="none" strike="noStrike" cap="none" normalizeH="0" baseline="0" dirty="0">
                <a:ln>
                  <a:noFill/>
                </a:ln>
                <a:solidFill>
                  <a:schemeClr val="tx1"/>
                </a:solidFill>
                <a:effectLst/>
                <a:latin typeface="Arial" panose="020B0604020202020204" pitchFamily="34" charset="0"/>
              </a:rPr>
              <a:t> – Provides secure, scalable deployment and hosting.</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Vector Index</a:t>
            </a:r>
            <a:r>
              <a:rPr kumimoji="0" lang="en-US" altLang="en-US" sz="1800" b="0" i="0" u="none" strike="noStrike" cap="none" normalizeH="0" baseline="0" dirty="0">
                <a:ln>
                  <a:noFill/>
                </a:ln>
                <a:solidFill>
                  <a:schemeClr val="tx1"/>
                </a:solidFill>
                <a:effectLst/>
                <a:latin typeface="Arial" panose="020B0604020202020204" pitchFamily="34" charset="0"/>
              </a:rPr>
              <a:t> – Stores financial knowledge embeddings for RAG-based retrieval.</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File Component</a:t>
            </a:r>
            <a:r>
              <a:rPr kumimoji="0" lang="en-US" altLang="en-US" sz="1800" b="0" i="0" u="none" strike="noStrike" cap="none" normalizeH="0" baseline="0" dirty="0">
                <a:ln>
                  <a:noFill/>
                </a:ln>
                <a:solidFill>
                  <a:schemeClr val="tx1"/>
                </a:solidFill>
                <a:effectLst/>
                <a:latin typeface="Arial" panose="020B0604020202020204" pitchFamily="34" charset="0"/>
              </a:rPr>
              <a:t> – Stores user portfolios, financial reports, and datasets.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Prompt Engineering</a:t>
            </a:r>
            <a:r>
              <a:rPr kumimoji="0" lang="en-US" altLang="en-US" sz="1800" b="0" i="0" u="none" strike="noStrike" cap="none" normalizeH="0" baseline="0" dirty="0">
                <a:ln>
                  <a:noFill/>
                </a:ln>
                <a:solidFill>
                  <a:schemeClr val="tx1"/>
                </a:solidFill>
                <a:effectLst/>
                <a:latin typeface="Arial" panose="020B0604020202020204" pitchFamily="34" charset="0"/>
              </a:rPr>
              <a:t> – Optimizes prompts for accurate investment recommendations and risk analysis.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err="1">
                <a:ln>
                  <a:noFill/>
                </a:ln>
                <a:solidFill>
                  <a:schemeClr val="tx1"/>
                </a:solidFill>
                <a:effectLst/>
                <a:latin typeface="Arial" panose="020B0604020202020204" pitchFamily="34" charset="0"/>
              </a:rPr>
              <a:t>Streamlit</a:t>
            </a:r>
            <a:r>
              <a:rPr kumimoji="0" lang="en-US" altLang="en-US" sz="1800" b="1" i="0" u="none" strike="noStrike" cap="none" normalizeH="0" baseline="0" dirty="0">
                <a:ln>
                  <a:noFill/>
                </a:ln>
                <a:solidFill>
                  <a:schemeClr val="tx1"/>
                </a:solidFill>
                <a:effectLst/>
                <a:latin typeface="Arial" panose="020B0604020202020204" pitchFamily="34" charset="0"/>
              </a:rPr>
              <a:t> / React</a:t>
            </a:r>
            <a:r>
              <a:rPr kumimoji="0" lang="en-US" altLang="en-US" sz="1800" b="0" i="0" u="none" strike="noStrike" cap="none" normalizeH="0" baseline="0" dirty="0">
                <a:ln>
                  <a:noFill/>
                </a:ln>
                <a:solidFill>
                  <a:schemeClr val="tx1"/>
                </a:solidFill>
                <a:effectLst/>
                <a:latin typeface="Arial" panose="020B0604020202020204" pitchFamily="34" charset="0"/>
              </a:rPr>
              <a:t> – Builds an interactive dashboard for portfolio visualization and user interaction. </a:t>
            </a:r>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sym typeface="Times New Roman"/>
              </a:rPr>
              <a:t>Required Files created using IBM bob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3" name="Rectangle 1">
            <a:extLst>
              <a:ext uri="{FF2B5EF4-FFF2-40B4-BE49-F238E27FC236}">
                <a16:creationId xmlns:a16="http://schemas.microsoft.com/office/drawing/2014/main" id="{56AD3B55-2F61-4146-9B6E-F0AD0C70D172}"/>
              </a:ext>
            </a:extLst>
          </p:cNvPr>
          <p:cNvSpPr>
            <a:spLocks noChangeArrowheads="1"/>
          </p:cNvSpPr>
          <p:nvPr/>
        </p:nvSpPr>
        <p:spPr bwMode="auto">
          <a:xfrm>
            <a:off x="0" y="212442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Arial" panose="020B0604020202020204" pitchFamily="34" charset="0"/>
              </a:rPr>
              <a:t>Important Files Created Using IBM BOB</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100" b="1" i="0" u="none" strike="noStrike" cap="none" normalizeH="0" baseline="0" dirty="0">
                <a:ln>
                  <a:noFill/>
                </a:ln>
                <a:solidFill>
                  <a:schemeClr val="tx1"/>
                </a:solidFill>
                <a:effectLst/>
                <a:latin typeface="Arial" panose="020B0604020202020204" pitchFamily="34" charset="0"/>
              </a:rPr>
              <a:t>Agent Workflow</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000" b="0" i="0" u="none" strike="noStrike" cap="none" normalizeH="0" baseline="0" dirty="0" err="1">
                <a:ln>
                  <a:noFill/>
                </a:ln>
                <a:solidFill>
                  <a:schemeClr val="tx1"/>
                </a:solidFill>
                <a:effectLst/>
                <a:latin typeface="Arial Unicode MS"/>
              </a:rPr>
              <a:t>workflow.json</a:t>
            </a:r>
            <a:r>
              <a:rPr kumimoji="0" lang="en-US" altLang="en-US" sz="1100" b="0" i="0" u="none" strike="noStrike" cap="none" normalizeH="0" baseline="0" dirty="0">
                <a:ln>
                  <a:noFill/>
                </a:ln>
                <a:solidFill>
                  <a:schemeClr val="tx1"/>
                </a:solidFill>
                <a:effectLst/>
              </a:rPr>
              <a:t>) – Defines the complete multi-agent workflow.</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Agent Configuration</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000" b="0" i="0" u="none" strike="noStrike" cap="none" normalizeH="0" baseline="0" dirty="0" err="1">
                <a:ln>
                  <a:noFill/>
                </a:ln>
                <a:solidFill>
                  <a:schemeClr val="tx1"/>
                </a:solidFill>
                <a:effectLst/>
                <a:latin typeface="Arial Unicode MS"/>
              </a:rPr>
              <a:t>agents.json</a:t>
            </a:r>
            <a:r>
              <a:rPr kumimoji="0" lang="en-US" altLang="en-US" sz="1100" b="0" i="0" u="none" strike="noStrike" cap="none" normalizeH="0" baseline="0" dirty="0">
                <a:ln>
                  <a:noFill/>
                </a:ln>
                <a:solidFill>
                  <a:schemeClr val="tx1"/>
                </a:solidFill>
                <a:effectLst/>
              </a:rPr>
              <a:t>) – Configures all AI agents and their roles.</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Prompt Templates</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000" b="0" i="0" u="none" strike="noStrike" cap="none" normalizeH="0" baseline="0" dirty="0">
                <a:ln>
                  <a:noFill/>
                </a:ln>
                <a:solidFill>
                  <a:schemeClr val="tx1"/>
                </a:solidFill>
                <a:effectLst/>
                <a:latin typeface="Arial Unicode MS"/>
              </a:rPr>
              <a:t>prompts.md</a:t>
            </a:r>
            <a:r>
              <a:rPr kumimoji="0" lang="en-US" altLang="en-US" sz="1100" b="0" i="0" u="none" strike="noStrike" cap="none" normalizeH="0" baseline="0" dirty="0">
                <a:ln>
                  <a:noFill/>
                </a:ln>
                <a:solidFill>
                  <a:schemeClr val="tx1"/>
                </a:solidFill>
                <a:effectLst/>
              </a:rPr>
              <a:t>) – Contains prompts used by the AI agents.</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Knowledge Base</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000" b="0" i="0" u="none" strike="noStrike" cap="none" normalizeH="0" baseline="0" dirty="0">
                <a:ln>
                  <a:noFill/>
                </a:ln>
                <a:solidFill>
                  <a:schemeClr val="tx1"/>
                </a:solidFill>
                <a:effectLst/>
                <a:latin typeface="Arial Unicode MS"/>
              </a:rPr>
              <a:t>knowledge_base.pdf</a:t>
            </a:r>
            <a:r>
              <a:rPr kumimoji="0" lang="en-US" altLang="en-US" sz="1100" b="0" i="0" u="none" strike="noStrike" cap="none" normalizeH="0" baseline="0" dirty="0">
                <a:ln>
                  <a:noFill/>
                </a:ln>
                <a:solidFill>
                  <a:schemeClr val="tx1"/>
                </a:solidFill>
                <a:effectLst/>
              </a:rPr>
              <a:t> / </a:t>
            </a:r>
            <a:r>
              <a:rPr kumimoji="0" lang="en-US" altLang="en-US" sz="1000" b="0" i="0" u="none" strike="noStrike" cap="none" normalizeH="0" baseline="0" dirty="0">
                <a:ln>
                  <a:noFill/>
                </a:ln>
                <a:solidFill>
                  <a:schemeClr val="tx1"/>
                </a:solidFill>
                <a:effectLst/>
                <a:latin typeface="Arial Unicode MS"/>
              </a:rPr>
              <a:t>financial_data.csv</a:t>
            </a:r>
            <a:r>
              <a:rPr kumimoji="0" lang="en-US" altLang="en-US" sz="1100" b="0" i="0" u="none" strike="noStrike" cap="none" normalizeH="0" baseline="0" dirty="0">
                <a:ln>
                  <a:noFill/>
                </a:ln>
                <a:solidFill>
                  <a:schemeClr val="tx1"/>
                </a:solidFill>
                <a:effectLst/>
              </a:rPr>
              <a:t>) – Financial reports and investment datasets.</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Vector Index</a:t>
            </a:r>
            <a:r>
              <a:rPr kumimoji="0" lang="en-US" altLang="en-US" sz="1800" b="0" i="0" u="none" strike="noStrike" cap="none" normalizeH="0" baseline="0" dirty="0">
                <a:ln>
                  <a:noFill/>
                </a:ln>
                <a:solidFill>
                  <a:schemeClr val="tx1"/>
                </a:solidFill>
                <a:effectLst/>
                <a:latin typeface="Arial" panose="020B0604020202020204" pitchFamily="34" charset="0"/>
              </a:rPr>
              <a:t> – Stores embeddings for RAG-based retrieval.</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Application Configuration</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000" b="0" i="0" u="none" strike="noStrike" cap="none" normalizeH="0" baseline="0" dirty="0" err="1">
                <a:ln>
                  <a:noFill/>
                </a:ln>
                <a:solidFill>
                  <a:schemeClr val="tx1"/>
                </a:solidFill>
                <a:effectLst/>
                <a:latin typeface="Arial Unicode MS"/>
              </a:rPr>
              <a:t>config.yaml</a:t>
            </a:r>
            <a:r>
              <a:rPr kumimoji="0" lang="en-US" altLang="en-US" sz="1100" b="0" i="0" u="none" strike="noStrike" cap="none" normalizeH="0" baseline="0" dirty="0">
                <a:ln>
                  <a:noFill/>
                </a:ln>
                <a:solidFill>
                  <a:schemeClr val="tx1"/>
                </a:solidFill>
                <a:effectLst/>
              </a:rPr>
              <a:t>) – Model, API, and deployment settings.</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Dashboard</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000" b="0" i="0" u="none" strike="noStrike" cap="none" normalizeH="0" baseline="0" dirty="0">
                <a:ln>
                  <a:noFill/>
                </a:ln>
                <a:solidFill>
                  <a:schemeClr val="tx1"/>
                </a:solidFill>
                <a:effectLst/>
                <a:latin typeface="Arial Unicode MS"/>
              </a:rPr>
              <a:t>app.py</a:t>
            </a:r>
            <a:r>
              <a:rPr kumimoji="0" lang="en-US" altLang="en-US" sz="1100" b="0" i="0" u="none" strike="noStrike" cap="none" normalizeH="0" baseline="0" dirty="0">
                <a:ln>
                  <a:noFill/>
                </a:ln>
                <a:solidFill>
                  <a:schemeClr val="tx1"/>
                </a:solidFill>
                <a:effectLst/>
              </a:rPr>
              <a:t> or </a:t>
            </a:r>
            <a:r>
              <a:rPr kumimoji="0" lang="en-US" altLang="en-US" sz="1000" b="0" i="0" u="none" strike="noStrike" cap="none" normalizeH="0" baseline="0" dirty="0" err="1">
                <a:ln>
                  <a:noFill/>
                </a:ln>
                <a:solidFill>
                  <a:schemeClr val="tx1"/>
                </a:solidFill>
                <a:effectLst/>
                <a:latin typeface="Arial Unicode MS"/>
              </a:rPr>
              <a:t>App.jsx</a:t>
            </a:r>
            <a:r>
              <a:rPr kumimoji="0" lang="en-US" altLang="en-US" sz="1100" b="0" i="0" u="none" strike="noStrike" cap="none" normalizeH="0" baseline="0" dirty="0">
                <a:ln>
                  <a:noFill/>
                </a:ln>
                <a:solidFill>
                  <a:schemeClr val="tx1"/>
                </a:solidFill>
                <a:effectLst/>
              </a:rPr>
              <a:t>) – User interface for investment recommendations and portfolio visualization.</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README</a:t>
            </a:r>
            <a:r>
              <a:rPr kumimoji="0" lang="en-US" altLang="en-US" sz="1800" b="0" i="0" u="none" strike="noStrike" cap="none" normalizeH="0" baseline="0" dirty="0">
                <a:ln>
                  <a:noFill/>
                </a:ln>
                <a:solidFill>
                  <a:schemeClr val="tx1"/>
                </a:solidFill>
                <a:effectLst/>
                <a:latin typeface="Arial" panose="020B0604020202020204" pitchFamily="34" charset="0"/>
              </a:rPr>
              <a:t> (</a:t>
            </a:r>
            <a:r>
              <a:rPr kumimoji="0" lang="en-US" altLang="en-US" sz="1000" b="0" i="0" u="none" strike="noStrike" cap="none" normalizeH="0" baseline="0" dirty="0">
                <a:ln>
                  <a:noFill/>
                </a:ln>
                <a:solidFill>
                  <a:schemeClr val="tx1"/>
                </a:solidFill>
                <a:effectLst/>
                <a:latin typeface="Arial Unicode MS"/>
              </a:rPr>
              <a:t>README.md</a:t>
            </a:r>
            <a:r>
              <a:rPr kumimoji="0" lang="en-US" altLang="en-US" sz="1100" b="0" i="0" u="none" strike="noStrike" cap="none" normalizeH="0" baseline="0" dirty="0">
                <a:ln>
                  <a:noFill/>
                </a:ln>
                <a:solidFill>
                  <a:schemeClr val="tx1"/>
                </a:solidFill>
                <a:effectLst/>
              </a:rPr>
              <a:t>) – Project setup, execution, and deployment instructions.</a:t>
            </a:r>
            <a:endParaRPr kumimoji="0" lang="en-US" altLang="en-US" sz="18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pic>
        <p:nvPicPr>
          <p:cNvPr id="6" name="Picture 5">
            <a:extLst>
              <a:ext uri="{FF2B5EF4-FFF2-40B4-BE49-F238E27FC236}">
                <a16:creationId xmlns:a16="http://schemas.microsoft.com/office/drawing/2014/main" id="{7632A2D8-3F7B-4EC6-9A54-0371A8687F50}"/>
              </a:ext>
            </a:extLst>
          </p:cNvPr>
          <p:cNvPicPr>
            <a:picLocks noChangeAspect="1"/>
          </p:cNvPicPr>
          <p:nvPr/>
        </p:nvPicPr>
        <p:blipFill>
          <a:blip r:embed="rId3"/>
          <a:stretch>
            <a:fillRect/>
          </a:stretch>
        </p:blipFill>
        <p:spPr>
          <a:xfrm>
            <a:off x="5923128" y="3095803"/>
            <a:ext cx="5633197" cy="3167114"/>
          </a:xfrm>
          <a:prstGeom prst="rect">
            <a:avLst/>
          </a:prstGeom>
        </p:spPr>
      </p:pic>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dirty="0">
                <a:solidFill>
                  <a:srgbClr val="051D3A"/>
                </a:solidFill>
                <a:latin typeface="Times New Roman"/>
                <a:ea typeface="Times New Roman"/>
                <a:cs typeface="Times New Roman"/>
                <a:sym typeface="Times New Roman"/>
              </a:rPr>
              <a:t> </a:t>
            </a:r>
            <a:r>
              <a:rPr lang="en-US" sz="2400" b="1" i="0" u="none" strike="noStrike" cap="none" dirty="0">
                <a:solidFill>
                  <a:srgbClr val="051D3A"/>
                </a:solidFill>
                <a:latin typeface="Times New Roman"/>
                <a:ea typeface="Times New Roman"/>
                <a:cs typeface="Times New Roman"/>
                <a:sym typeface="Times New Roman"/>
              </a:rPr>
              <a:t>IBM Bob Screenshots:</a:t>
            </a:r>
            <a:endParaRPr sz="2400" b="1" dirty="0">
              <a:sym typeface="Times New Roman"/>
            </a:endParaRPr>
          </a:p>
        </p:txBody>
      </p:sp>
      <p:pic>
        <p:nvPicPr>
          <p:cNvPr id="4" name="Picture 3">
            <a:extLst>
              <a:ext uri="{FF2B5EF4-FFF2-40B4-BE49-F238E27FC236}">
                <a16:creationId xmlns:a16="http://schemas.microsoft.com/office/drawing/2014/main" id="{C63531DE-D876-4CAE-B96A-1279F21FB307}"/>
              </a:ext>
            </a:extLst>
          </p:cNvPr>
          <p:cNvPicPr>
            <a:picLocks noChangeAspect="1"/>
          </p:cNvPicPr>
          <p:nvPr/>
        </p:nvPicPr>
        <p:blipFill>
          <a:blip r:embed="rId3"/>
          <a:stretch>
            <a:fillRect/>
          </a:stretch>
        </p:blipFill>
        <p:spPr>
          <a:xfrm>
            <a:off x="0" y="1673"/>
            <a:ext cx="12192000" cy="6854653"/>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dirty="0">
                <a:solidFill>
                  <a:schemeClr val="dk1"/>
                </a:solidFill>
                <a:latin typeface="Calibri"/>
                <a:ea typeface="Calibri"/>
                <a:cs typeface="Calibri"/>
                <a:sym typeface="Calibri"/>
              </a:rPr>
              <a:t>Architecture blueprint for IBM bob:</a:t>
            </a:r>
            <a:endParaRPr lang="en-US" sz="2400" dirty="0"/>
          </a:p>
        </p:txBody>
      </p:sp>
      <p:pic>
        <p:nvPicPr>
          <p:cNvPr id="4" name="Picture 3">
            <a:extLst>
              <a:ext uri="{FF2B5EF4-FFF2-40B4-BE49-F238E27FC236}">
                <a16:creationId xmlns:a16="http://schemas.microsoft.com/office/drawing/2014/main" id="{D4EAB880-E7A2-4834-BD19-547ADAFBCE9E}"/>
              </a:ext>
            </a:extLst>
          </p:cNvPr>
          <p:cNvPicPr>
            <a:picLocks noChangeAspect="1"/>
          </p:cNvPicPr>
          <p:nvPr/>
        </p:nvPicPr>
        <p:blipFill>
          <a:blip r:embed="rId3"/>
          <a:stretch>
            <a:fillRect/>
          </a:stretch>
        </p:blipFill>
        <p:spPr>
          <a:xfrm>
            <a:off x="382137" y="771746"/>
            <a:ext cx="11505063" cy="590200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dirty="0"/>
              <a:t>Role of Agentic AI in the solution </a:t>
            </a:r>
            <a:endParaRPr lang="en-IN" sz="3200" b="1" dirty="0"/>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2462213"/>
          </a:xfrm>
          <a:prstGeom prst="rect">
            <a:avLst/>
          </a:prstGeom>
          <a:noFill/>
        </p:spPr>
        <p:txBody>
          <a:bodyPr wrap="square" rtlCol="0">
            <a:spAutoFit/>
          </a:bodyPr>
          <a:lstStyle/>
          <a:p>
            <a:r>
              <a:rPr lang="en-US" b="1" dirty="0"/>
              <a:t>Agentic AI</a:t>
            </a:r>
            <a:r>
              <a:rPr lang="en-US" dirty="0"/>
              <a:t> enables the Investment Recommendation Agent to act as an intelligent financial advisor by coordinating multiple specialized AI agents. Using </a:t>
            </a:r>
            <a:r>
              <a:rPr lang="en-US" b="1" dirty="0"/>
              <a:t>IBM BOB</a:t>
            </a:r>
            <a:r>
              <a:rPr lang="en-US" dirty="0"/>
              <a:t>, </a:t>
            </a:r>
            <a:r>
              <a:rPr lang="en-US" b="1" dirty="0"/>
              <a:t>IBM watsonx.ai</a:t>
            </a:r>
            <a:r>
              <a:rPr lang="en-US" dirty="0"/>
              <a:t>, and </a:t>
            </a:r>
            <a:r>
              <a:rPr lang="en-US" b="1" dirty="0"/>
              <a:t>IBM Granite Models</a:t>
            </a:r>
            <a:r>
              <a:rPr lang="en-US" dirty="0"/>
              <a:t>, each agent independently performs tasks such as retrieving financial data, generating investment recommendations, analyzing portfolio risk, and monitoring market trends.</a:t>
            </a:r>
          </a:p>
          <a:p>
            <a:r>
              <a:rPr lang="en-US" dirty="0"/>
              <a:t>The agents collaborate by sharing information and adapting recommendations based on user goals, risk tolerance, budget, and real-time market conditions. This autonomous, context-aware approach ensures accurate, personalized, and timely investment guidance.</a:t>
            </a:r>
          </a:p>
          <a:p>
            <a:r>
              <a:rPr lang="en-US" dirty="0"/>
              <a:t>Overall, </a:t>
            </a:r>
            <a:r>
              <a:rPr lang="en-US" b="1" dirty="0"/>
              <a:t>Agentic AI</a:t>
            </a:r>
            <a:r>
              <a:rPr lang="en-US" dirty="0"/>
              <a:t> makes the solution </a:t>
            </a:r>
            <a:r>
              <a:rPr lang="en-US" b="1" dirty="0"/>
              <a:t>proactive, personalized, and goal-driven</a:t>
            </a:r>
            <a:r>
              <a:rPr lang="en-US" dirty="0"/>
              <a:t>, helping users make informed investment decisions with minimal manual effort.</a:t>
            </a:r>
          </a:p>
          <a:p>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501157" y="2619487"/>
            <a:ext cx="4767406" cy="2542025"/>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pic>
        <p:nvPicPr>
          <p:cNvPr id="8" name="Picture 7">
            <a:extLst>
              <a:ext uri="{FF2B5EF4-FFF2-40B4-BE49-F238E27FC236}">
                <a16:creationId xmlns:a16="http://schemas.microsoft.com/office/drawing/2014/main" id="{9675D0D2-90AD-4D4C-90AE-8F33707C5C97}"/>
              </a:ext>
            </a:extLst>
          </p:cNvPr>
          <p:cNvPicPr>
            <a:picLocks noChangeAspect="1"/>
          </p:cNvPicPr>
          <p:nvPr/>
        </p:nvPicPr>
        <p:blipFill>
          <a:blip r:embed="rId3"/>
          <a:stretch>
            <a:fillRect/>
          </a:stretch>
        </p:blipFill>
        <p:spPr>
          <a:xfrm>
            <a:off x="393654" y="2272113"/>
            <a:ext cx="5378646" cy="3024000"/>
          </a:xfrm>
          <a:prstGeom prst="rect">
            <a:avLst/>
          </a:prstGeom>
        </p:spPr>
      </p:pic>
      <p:pic>
        <p:nvPicPr>
          <p:cNvPr id="10" name="Picture 9">
            <a:extLst>
              <a:ext uri="{FF2B5EF4-FFF2-40B4-BE49-F238E27FC236}">
                <a16:creationId xmlns:a16="http://schemas.microsoft.com/office/drawing/2014/main" id="{E696CFE6-5BA8-4BFB-99B6-56B59313919E}"/>
              </a:ext>
            </a:extLst>
          </p:cNvPr>
          <p:cNvPicPr>
            <a:picLocks noChangeAspect="1"/>
          </p:cNvPicPr>
          <p:nvPr/>
        </p:nvPicPr>
        <p:blipFill>
          <a:blip r:embed="rId4"/>
          <a:stretch>
            <a:fillRect/>
          </a:stretch>
        </p:blipFill>
        <p:spPr>
          <a:xfrm>
            <a:off x="6283799" y="2272113"/>
            <a:ext cx="5378635" cy="3024000"/>
          </a:xfrm>
          <a:prstGeom prst="rect">
            <a:avLst/>
          </a:prstGeom>
        </p:spPr>
      </p:pic>
    </p:spTree>
    <p:extLst>
      <p:ext uri="{BB962C8B-B14F-4D97-AF65-F5344CB8AC3E}">
        <p14:creationId xmlns:p14="http://schemas.microsoft.com/office/powerpoint/2010/main" val="211548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Project Output Screenshot</a:t>
            </a:r>
            <a:endParaRPr sz="2400" b="1" dirty="0">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dirty="0">
                <a:solidFill>
                  <a:srgbClr val="FF0000"/>
                </a:solidFill>
              </a:rPr>
              <a:t>Please put IBM Bob output screenshots with 2-3 prompts. </a:t>
            </a:r>
          </a:p>
          <a:p>
            <a:r>
              <a:rPr lang="en-US" sz="2000" dirty="0">
                <a:solidFill>
                  <a:srgbClr val="FF0000"/>
                </a:solidFill>
              </a:rPr>
              <a:t>You can take 2-3 more slides for each screenshot</a:t>
            </a:r>
            <a:endParaRPr lang="en-IN" sz="2000" dirty="0">
              <a:solidFill>
                <a:srgbClr val="FF0000"/>
              </a:solidFill>
            </a:endParaRPr>
          </a:p>
        </p:txBody>
      </p:sp>
      <p:pic>
        <p:nvPicPr>
          <p:cNvPr id="7" name="Picture 6">
            <a:extLst>
              <a:ext uri="{FF2B5EF4-FFF2-40B4-BE49-F238E27FC236}">
                <a16:creationId xmlns:a16="http://schemas.microsoft.com/office/drawing/2014/main" id="{53AB350A-29AB-4EE8-A59B-A9F404AAC850}"/>
              </a:ext>
            </a:extLst>
          </p:cNvPr>
          <p:cNvPicPr>
            <a:picLocks noChangeAspect="1"/>
          </p:cNvPicPr>
          <p:nvPr/>
        </p:nvPicPr>
        <p:blipFill>
          <a:blip r:embed="rId3"/>
          <a:stretch>
            <a:fillRect/>
          </a:stretch>
        </p:blipFill>
        <p:spPr>
          <a:xfrm>
            <a:off x="0" y="1673"/>
            <a:ext cx="12192000" cy="6854653"/>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Project Output Screenshot</a:t>
            </a:r>
            <a:endParaRPr sz="2400" b="1" dirty="0">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692D13D-6B69-03D8-BA22-587B943A2572}"/>
              </a:ext>
            </a:extLst>
          </p:cNvPr>
          <p:cNvSpPr txBox="1"/>
          <p:nvPr/>
        </p:nvSpPr>
        <p:spPr>
          <a:xfrm>
            <a:off x="1335024" y="1865376"/>
            <a:ext cx="6833922" cy="707886"/>
          </a:xfrm>
          <a:prstGeom prst="rect">
            <a:avLst/>
          </a:prstGeom>
          <a:noFill/>
        </p:spPr>
        <p:txBody>
          <a:bodyPr wrap="none" rtlCol="0">
            <a:spAutoFit/>
          </a:bodyPr>
          <a:lstStyle/>
          <a:p>
            <a:r>
              <a:rPr lang="en-US" sz="2000" dirty="0">
                <a:solidFill>
                  <a:srgbClr val="FF0000"/>
                </a:solidFill>
              </a:rPr>
              <a:t>Please put IBM Bob output screenshots with 2-3 prompts. </a:t>
            </a:r>
          </a:p>
          <a:p>
            <a:r>
              <a:rPr lang="en-US" sz="2000" dirty="0">
                <a:solidFill>
                  <a:srgbClr val="FF0000"/>
                </a:solidFill>
              </a:rPr>
              <a:t>You can take 2-3 more slides for each screenshot</a:t>
            </a:r>
            <a:endParaRPr lang="en-IN" sz="2000" dirty="0">
              <a:solidFill>
                <a:srgbClr val="FF0000"/>
              </a:solidFill>
            </a:endParaRPr>
          </a:p>
        </p:txBody>
      </p:sp>
      <p:pic>
        <p:nvPicPr>
          <p:cNvPr id="4" name="Picture 3">
            <a:extLst>
              <a:ext uri="{FF2B5EF4-FFF2-40B4-BE49-F238E27FC236}">
                <a16:creationId xmlns:a16="http://schemas.microsoft.com/office/drawing/2014/main" id="{62CF7CE6-459E-4D83-BAC7-713191072B7D}"/>
              </a:ext>
            </a:extLst>
          </p:cNvPr>
          <p:cNvPicPr>
            <a:picLocks noChangeAspect="1"/>
          </p:cNvPicPr>
          <p:nvPr/>
        </p:nvPicPr>
        <p:blipFill>
          <a:blip r:embed="rId3"/>
          <a:stretch>
            <a:fillRect/>
          </a:stretch>
        </p:blipFill>
        <p:spPr>
          <a:xfrm>
            <a:off x="0" y="1673"/>
            <a:ext cx="12192000" cy="6854653"/>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Project Output Screenshot</a:t>
            </a:r>
            <a:endParaRPr sz="2400" b="1" dirty="0">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B55001C-8880-8B09-8704-29D3F62E7A03}"/>
              </a:ext>
            </a:extLst>
          </p:cNvPr>
          <p:cNvSpPr txBox="1"/>
          <p:nvPr/>
        </p:nvSpPr>
        <p:spPr>
          <a:xfrm>
            <a:off x="1335024" y="1865376"/>
            <a:ext cx="6833922" cy="707886"/>
          </a:xfrm>
          <a:prstGeom prst="rect">
            <a:avLst/>
          </a:prstGeom>
          <a:noFill/>
        </p:spPr>
        <p:txBody>
          <a:bodyPr wrap="none" rtlCol="0">
            <a:spAutoFit/>
          </a:bodyPr>
          <a:lstStyle/>
          <a:p>
            <a:r>
              <a:rPr lang="en-US" sz="2000" dirty="0">
                <a:solidFill>
                  <a:srgbClr val="FF0000"/>
                </a:solidFill>
              </a:rPr>
              <a:t>Please put IBM Bob output screenshots with 2-3 prompts. </a:t>
            </a:r>
          </a:p>
          <a:p>
            <a:r>
              <a:rPr lang="en-US" sz="2000" dirty="0">
                <a:solidFill>
                  <a:srgbClr val="FF0000"/>
                </a:solidFill>
              </a:rPr>
              <a:t>You can take 2-3 more slides for each screenshot</a:t>
            </a:r>
            <a:endParaRPr lang="en-IN" sz="2000" dirty="0">
              <a:solidFill>
                <a:srgbClr val="FF0000"/>
              </a:solidFill>
            </a:endParaRPr>
          </a:p>
        </p:txBody>
      </p:sp>
      <p:pic>
        <p:nvPicPr>
          <p:cNvPr id="5" name="Picture 4">
            <a:extLst>
              <a:ext uri="{FF2B5EF4-FFF2-40B4-BE49-F238E27FC236}">
                <a16:creationId xmlns:a16="http://schemas.microsoft.com/office/drawing/2014/main" id="{C85CFABF-7EA4-450D-9D0D-B12E0E06CFD4}"/>
              </a:ext>
            </a:extLst>
          </p:cNvPr>
          <p:cNvPicPr>
            <a:picLocks noChangeAspect="1"/>
          </p:cNvPicPr>
          <p:nvPr/>
        </p:nvPicPr>
        <p:blipFill>
          <a:blip r:embed="rId3"/>
          <a:stretch>
            <a:fillRect/>
          </a:stretch>
        </p:blipFill>
        <p:spPr>
          <a:xfrm>
            <a:off x="0" y="1673"/>
            <a:ext cx="12192000" cy="6854653"/>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767006"/>
            <a:ext cx="11301984" cy="3323987"/>
          </a:xfrm>
          <a:prstGeom prst="rect">
            <a:avLst/>
          </a:prstGeom>
          <a:noFill/>
        </p:spPr>
        <p:txBody>
          <a:bodyPr wrap="square" rtlCol="0">
            <a:spAutoFit/>
          </a:bodyPr>
          <a:lstStyle/>
          <a:p>
            <a:r>
              <a:rPr lang="en-US" dirty="0"/>
              <a:t>The proposed </a:t>
            </a:r>
            <a:r>
              <a:rPr lang="en-US" b="1" dirty="0"/>
              <a:t>Investment Recommendation Agent</a:t>
            </a:r>
            <a:r>
              <a:rPr lang="en-US" dirty="0"/>
              <a:t> stands out by combining </a:t>
            </a:r>
            <a:r>
              <a:rPr lang="en-US" b="1" dirty="0"/>
              <a:t>Agentic AI, RAG, and real-time financial intelligence</a:t>
            </a:r>
            <a:r>
              <a:rPr lang="en-US" dirty="0"/>
              <a:t> into a single intelligent system.</a:t>
            </a:r>
          </a:p>
          <a:p>
            <a:r>
              <a:rPr lang="en-US" b="1" dirty="0"/>
              <a:t>Multi-Agent Intelligence</a:t>
            </a:r>
            <a:r>
              <a:rPr lang="en-US" dirty="0"/>
              <a:t> – Instead of a single chatbot, multiple specialized agents collaborate to deliver accurate and context-aware investment guidance.</a:t>
            </a:r>
          </a:p>
          <a:p>
            <a:r>
              <a:rPr lang="en-US" b="1" dirty="0"/>
              <a:t>RAG-Based Financial Accuracy</a:t>
            </a:r>
            <a:r>
              <a:rPr lang="en-US" dirty="0"/>
              <a:t> – Integrates real-time financial data retrieval with AI generation, reducing misinformation and ensuring trustworthy recommendations.</a:t>
            </a:r>
          </a:p>
          <a:p>
            <a:r>
              <a:rPr lang="en-US" b="1" dirty="0"/>
              <a:t>Hyper-Personalization</a:t>
            </a:r>
            <a:r>
              <a:rPr lang="en-US" dirty="0"/>
              <a:t> – Tailors investment portfolios based on financial goals, budget, risk tolerance, and investment horizon.</a:t>
            </a:r>
          </a:p>
          <a:p>
            <a:r>
              <a:rPr lang="en-US" b="1" dirty="0"/>
              <a:t>Real-Time Market Monitoring</a:t>
            </a:r>
            <a:r>
              <a:rPr lang="en-US" dirty="0"/>
              <a:t> – Continuously adapts recommendations based on live market trends, portfolio performance, and economic updates.</a:t>
            </a:r>
          </a:p>
          <a:p>
            <a:r>
              <a:rPr lang="en-US" b="1" dirty="0"/>
              <a:t>Proactive Risk Analysis</a:t>
            </a:r>
            <a:r>
              <a:rPr lang="en-US" dirty="0"/>
              <a:t> – Goes beyond investment recommendations by identifying portfolio risks, diversification gaps, and market volatility.</a:t>
            </a:r>
          </a:p>
          <a:p>
            <a:r>
              <a:rPr lang="en-US" b="1" dirty="0"/>
              <a:t>Interactive Investment Dashboard</a:t>
            </a:r>
            <a:r>
              <a:rPr lang="en-US" dirty="0"/>
              <a:t> – Provides visual insights into portfolio performance, asset allocation, expected returns, and risk metrics.</a:t>
            </a:r>
          </a:p>
          <a:p>
            <a:r>
              <a:rPr lang="en-US" b="1" dirty="0"/>
              <a:t>Scalable &amp; Enterprise-Ready</a:t>
            </a:r>
            <a:r>
              <a:rPr lang="en-US" dirty="0"/>
              <a:t> – Built on </a:t>
            </a:r>
            <a:r>
              <a:rPr lang="en-US" b="1" dirty="0"/>
              <a:t>IBM BOB</a:t>
            </a:r>
            <a:r>
              <a:rPr lang="en-US" dirty="0"/>
              <a:t>, </a:t>
            </a:r>
            <a:r>
              <a:rPr lang="en-US" b="1" dirty="0"/>
              <a:t>IBM watsonx.ai</a:t>
            </a:r>
            <a:r>
              <a:rPr lang="en-US" dirty="0"/>
              <a:t>, and </a:t>
            </a:r>
            <a:r>
              <a:rPr lang="en-US" b="1" dirty="0"/>
              <a:t>IBM Granite Models</a:t>
            </a:r>
            <a:r>
              <a:rPr lang="en-US" dirty="0"/>
              <a:t>, ensuring reliability, security, governance, and scalability.</a:t>
            </a:r>
          </a:p>
          <a:p>
            <a:r>
              <a:rPr lang="en-US" dirty="0"/>
              <a:t>This makes the solution a </a:t>
            </a:r>
            <a:r>
              <a:rPr lang="en-US" b="1" dirty="0"/>
              <a:t>smart, adaptive, and proactive digital investment advisor</a:t>
            </a:r>
            <a:r>
              <a:rPr lang="en-US" dirty="0"/>
              <a:t>, not just a static investment recommendation tool.</a:t>
            </a:r>
          </a:p>
          <a:p>
            <a:endParaRPr lang="en-IN" dirty="0"/>
          </a:p>
        </p:txBody>
      </p:sp>
    </p:spTree>
    <p:extLst>
      <p:ext uri="{BB962C8B-B14F-4D97-AF65-F5344CB8AC3E}">
        <p14:creationId xmlns:p14="http://schemas.microsoft.com/office/powerpoint/2010/main" val="917964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641445" y="1153712"/>
            <a:ext cx="9791859"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marL="0" marR="0" lvl="0" indent="0" algn="l" rtl="0">
              <a:lnSpc>
                <a:spcPct val="162162"/>
              </a:lnSpc>
              <a:spcBef>
                <a:spcPts val="0"/>
              </a:spcBef>
              <a:spcAft>
                <a:spcPts val="0"/>
              </a:spcAft>
              <a:buClr>
                <a:srgbClr val="2B3541"/>
              </a:buClr>
              <a:buSzPts val="1850"/>
              <a:buFont typeface="Times New Roman"/>
              <a:buNone/>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a:t>
            </a:r>
            <a:r>
              <a:rPr lang="en-US" sz="1850" b="1" dirty="0">
                <a:solidFill>
                  <a:srgbClr val="2B3541"/>
                </a:solidFill>
                <a:latin typeface="Times New Roman"/>
                <a:ea typeface="Times New Roman"/>
                <a:cs typeface="Times New Roman"/>
                <a:sym typeface="Times New Roman"/>
              </a:rPr>
              <a:t>https://github.com/narasimhulusrit789-crypto/Finance_Agent</a:t>
            </a: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Make sure you have Uploaded following three files into your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br>
              <a:rPr lang="en-US" sz="1850" dirty="0">
                <a:solidFill>
                  <a:srgbClr val="2B3541"/>
                </a:solidFill>
                <a:latin typeface="Times New Roman"/>
                <a:ea typeface="Times New Roman"/>
                <a:cs typeface="Times New Roman"/>
                <a:sym typeface="Times New Roman"/>
              </a:rPr>
            </a:br>
            <a:r>
              <a:rPr lang="en-US" sz="1850" dirty="0">
                <a:solidFill>
                  <a:srgbClr val="2B3541"/>
                </a:solidFill>
                <a:latin typeface="Times New Roman"/>
                <a:ea typeface="Times New Roman"/>
                <a:cs typeface="Times New Roman"/>
                <a:sym typeface="Times New Roman"/>
              </a:rPr>
              <a:t>1) All Agent relevant files of IBM Cloud , 2) yourproblemstatement.pdf file  3) your projectpresntation.pptx file 4)any other files </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lang="en-US"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Rectangle 3">
            <a:extLst>
              <a:ext uri="{FF2B5EF4-FFF2-40B4-BE49-F238E27FC236}">
                <a16:creationId xmlns:a16="http://schemas.microsoft.com/office/drawing/2014/main" id="{63F0E7F4-014B-466F-9E4E-9C60E707E6BF}"/>
              </a:ext>
            </a:extLst>
          </p:cNvPr>
          <p:cNvSpPr>
            <a:spLocks noChangeArrowheads="1"/>
          </p:cNvSpPr>
          <p:nvPr/>
        </p:nvSpPr>
        <p:spPr bwMode="auto">
          <a:xfrm>
            <a:off x="614149" y="1373905"/>
            <a:ext cx="10645254"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AI Portfolio Optimization</a:t>
            </a:r>
            <a:r>
              <a:rPr kumimoji="0" lang="en-US" altLang="en-US" sz="1800" b="0" i="0" u="none" strike="noStrike" cap="none" normalizeH="0" baseline="0" dirty="0">
                <a:ln>
                  <a:noFill/>
                </a:ln>
                <a:solidFill>
                  <a:schemeClr val="tx1"/>
                </a:solidFill>
                <a:effectLst/>
                <a:latin typeface="Arial" panose="020B0604020202020204" pitchFamily="34" charset="0"/>
              </a:rPr>
              <a:t> – Continuously optimize investments using AI.</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Real-Time Market Data</a:t>
            </a:r>
            <a:r>
              <a:rPr kumimoji="0" lang="en-US" altLang="en-US" sz="1800" b="0" i="0" u="none" strike="noStrike" cap="none" normalizeH="0" baseline="0" dirty="0">
                <a:ln>
                  <a:noFill/>
                </a:ln>
                <a:solidFill>
                  <a:schemeClr val="tx1"/>
                </a:solidFill>
                <a:effectLst/>
                <a:latin typeface="Arial" panose="020B0604020202020204" pitchFamily="34" charset="0"/>
              </a:rPr>
              <a:t> – Integrate live stock and financial market updates.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Predictive Analytics</a:t>
            </a:r>
            <a:r>
              <a:rPr kumimoji="0" lang="en-US" altLang="en-US" sz="1800" b="0" i="0" u="none" strike="noStrike" cap="none" normalizeH="0" baseline="0" dirty="0">
                <a:ln>
                  <a:noFill/>
                </a:ln>
                <a:solidFill>
                  <a:schemeClr val="tx1"/>
                </a:solidFill>
                <a:effectLst/>
                <a:latin typeface="Arial" panose="020B0604020202020204" pitchFamily="34" charset="0"/>
              </a:rPr>
              <a:t> – Forecast market trends and investment opportunities.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Multi-Asset Support</a:t>
            </a:r>
            <a:r>
              <a:rPr kumimoji="0" lang="en-US" altLang="en-US" sz="1800" b="0" i="0" u="none" strike="noStrike" cap="none" normalizeH="0" baseline="0" dirty="0">
                <a:ln>
                  <a:noFill/>
                </a:ln>
                <a:solidFill>
                  <a:schemeClr val="tx1"/>
                </a:solidFill>
                <a:effectLst/>
                <a:latin typeface="Arial" panose="020B0604020202020204" pitchFamily="34" charset="0"/>
              </a:rPr>
              <a:t> – Recommend stocks, mutual funds, ETFs, bonds, and cryptocurrencies.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Automated Portfolio Rebalancing</a:t>
            </a:r>
            <a:r>
              <a:rPr kumimoji="0" lang="en-US" altLang="en-US" sz="1800" b="0" i="0" u="none" strike="noStrike" cap="none" normalizeH="0" baseline="0" dirty="0">
                <a:ln>
                  <a:noFill/>
                </a:ln>
                <a:solidFill>
                  <a:schemeClr val="tx1"/>
                </a:solidFill>
                <a:effectLst/>
                <a:latin typeface="Arial" panose="020B0604020202020204" pitchFamily="34" charset="0"/>
              </a:rPr>
              <a:t> – Suggest portfolio adjustments based on market changes.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Voice-Enabled Assistant</a:t>
            </a:r>
            <a:r>
              <a:rPr kumimoji="0" lang="en-US" altLang="en-US" sz="1800" b="0" i="0" u="none" strike="noStrike" cap="none" normalizeH="0" baseline="0" dirty="0">
                <a:ln>
                  <a:noFill/>
                </a:ln>
                <a:solidFill>
                  <a:schemeClr val="tx1"/>
                </a:solidFill>
                <a:effectLst/>
                <a:latin typeface="Arial" panose="020B0604020202020204" pitchFamily="34" charset="0"/>
              </a:rPr>
              <a:t> – Enable voice-based investment guidance.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Global Market Integration</a:t>
            </a:r>
            <a:r>
              <a:rPr kumimoji="0" lang="en-US" altLang="en-US" sz="1800" b="0" i="0" u="none" strike="noStrike" cap="none" normalizeH="0" baseline="0" dirty="0">
                <a:ln>
                  <a:noFill/>
                </a:ln>
                <a:solidFill>
                  <a:schemeClr val="tx1"/>
                </a:solidFill>
                <a:effectLst/>
                <a:latin typeface="Arial" panose="020B0604020202020204" pitchFamily="34" charset="0"/>
              </a:rPr>
              <a:t> – Support international financial markets.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tx1"/>
                </a:solidFill>
                <a:effectLst/>
                <a:latin typeface="Arial" panose="020B0604020202020204" pitchFamily="34" charset="0"/>
              </a:rPr>
              <a:t>Enterprise Deployment</a:t>
            </a:r>
            <a:r>
              <a:rPr kumimoji="0" lang="en-US" altLang="en-US" sz="1800" b="0" i="0" u="none" strike="noStrike" cap="none" normalizeH="0" baseline="0" dirty="0">
                <a:ln>
                  <a:noFill/>
                </a:ln>
                <a:solidFill>
                  <a:schemeClr val="tx1"/>
                </a:solidFill>
                <a:effectLst/>
                <a:latin typeface="Arial" panose="020B0604020202020204" pitchFamily="34" charset="0"/>
              </a:rPr>
              <a:t> – Integrate with banks and wealth management platforms using </a:t>
            </a:r>
            <a:r>
              <a:rPr kumimoji="0" lang="en-US" altLang="en-US" sz="1800" b="1" i="0" u="none" strike="noStrike" cap="none" normalizeH="0" baseline="0" dirty="0">
                <a:ln>
                  <a:noFill/>
                </a:ln>
                <a:solidFill>
                  <a:schemeClr val="tx1"/>
                </a:solidFill>
                <a:effectLst/>
                <a:latin typeface="Arial" panose="020B0604020202020204" pitchFamily="34" charset="0"/>
              </a:rPr>
              <a:t>IBM Cloud</a:t>
            </a:r>
            <a:r>
              <a:rPr kumimoji="0" lang="en-US" altLang="en-US" sz="1800" b="0" i="0" u="none" strike="noStrike" cap="none" normalizeH="0" baseline="0" dirty="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2136706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14" name="Picture 13">
            <a:extLst>
              <a:ext uri="{FF2B5EF4-FFF2-40B4-BE49-F238E27FC236}">
                <a16:creationId xmlns:a16="http://schemas.microsoft.com/office/drawing/2014/main" id="{D0D86050-7FF1-4567-8066-6D9E2D1DE922}"/>
              </a:ext>
            </a:extLst>
          </p:cNvPr>
          <p:cNvPicPr>
            <a:picLocks noChangeAspect="1"/>
          </p:cNvPicPr>
          <p:nvPr/>
        </p:nvPicPr>
        <p:blipFill>
          <a:blip r:embed="rId2"/>
          <a:stretch>
            <a:fillRect/>
          </a:stretch>
        </p:blipFill>
        <p:spPr>
          <a:xfrm>
            <a:off x="3662362" y="1576387"/>
            <a:ext cx="4867275" cy="3705225"/>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3" name="Picture 2">
            <a:extLst>
              <a:ext uri="{FF2B5EF4-FFF2-40B4-BE49-F238E27FC236}">
                <a16:creationId xmlns:a16="http://schemas.microsoft.com/office/drawing/2014/main" id="{2077FAAE-9219-49F3-83A7-DB6D660FFA66}"/>
              </a:ext>
            </a:extLst>
          </p:cNvPr>
          <p:cNvPicPr>
            <a:picLocks noChangeAspect="1"/>
          </p:cNvPicPr>
          <p:nvPr/>
        </p:nvPicPr>
        <p:blipFill>
          <a:blip r:embed="rId2"/>
          <a:stretch>
            <a:fillRect/>
          </a:stretch>
        </p:blipFill>
        <p:spPr>
          <a:xfrm>
            <a:off x="1545374" y="1411609"/>
            <a:ext cx="6312889" cy="4104000"/>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526</TotalTime>
  <Words>1277</Words>
  <Application>Microsoft Office PowerPoint</Application>
  <PresentationFormat>Widescreen</PresentationFormat>
  <Paragraphs>122</Paragraphs>
  <Slides>19</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Arial Unicode MS</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srit</cp:lastModifiedBy>
  <cp:revision>16</cp:revision>
  <dcterms:created xsi:type="dcterms:W3CDTF">2025-07-08T05:06:56Z</dcterms:created>
  <dcterms:modified xsi:type="dcterms:W3CDTF">2026-06-27T07:27:13Z</dcterms:modified>
</cp:coreProperties>
</file>